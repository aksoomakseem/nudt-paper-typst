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CF5"/>
    <a:srgbClr val="7B3FCA"/>
    <a:srgbClr val="C3A7E6"/>
    <a:srgbClr val="DAC9F0"/>
    <a:srgbClr val="FFFFFF"/>
    <a:srgbClr val="C8AFE8"/>
    <a:srgbClr val="DAECDF"/>
    <a:srgbClr val="2D8F4E"/>
    <a:srgbClr val="92D2AA"/>
    <a:srgbClr val="D4ED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3"/>
        <p:guide pos="38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/>
          <p:nvPr/>
        </p:nvSpPr>
        <p:spPr>
          <a:xfrm>
            <a:off x="-476250" y="-396240"/>
            <a:ext cx="13106400" cy="7607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81940" y="314960"/>
            <a:ext cx="3345180" cy="6075680"/>
          </a:xfrm>
          <a:prstGeom prst="roundRect">
            <a:avLst>
              <a:gd name="adj" fmla="val 9548"/>
            </a:avLst>
          </a:prstGeom>
          <a:solidFill>
            <a:srgbClr val="3B7DD8"/>
          </a:solidFill>
          <a:ln>
            <a:solidFill>
              <a:srgbClr val="3B7DD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同侧圆角矩形 4"/>
          <p:cNvSpPr/>
          <p:nvPr/>
        </p:nvSpPr>
        <p:spPr>
          <a:xfrm>
            <a:off x="281940" y="938530"/>
            <a:ext cx="3345180" cy="5452110"/>
          </a:xfrm>
          <a:prstGeom prst="round2SameRect">
            <a:avLst>
              <a:gd name="adj1" fmla="val 0"/>
              <a:gd name="adj2" fmla="val 8826"/>
            </a:avLst>
          </a:prstGeom>
          <a:solidFill>
            <a:srgbClr val="EDF4FB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423410" y="314960"/>
            <a:ext cx="3345180" cy="6075680"/>
          </a:xfrm>
          <a:prstGeom prst="roundRect">
            <a:avLst>
              <a:gd name="adj" fmla="val 9548"/>
            </a:avLst>
          </a:prstGeom>
          <a:solidFill>
            <a:srgbClr val="2D8F4E"/>
          </a:solidFill>
          <a:ln>
            <a:solidFill>
              <a:srgbClr val="2D8F4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同侧圆角矩形 6"/>
          <p:cNvSpPr/>
          <p:nvPr/>
        </p:nvSpPr>
        <p:spPr>
          <a:xfrm>
            <a:off x="4423410" y="937895"/>
            <a:ext cx="3345180" cy="5452110"/>
          </a:xfrm>
          <a:prstGeom prst="round2SameRect">
            <a:avLst>
              <a:gd name="adj1" fmla="val 0"/>
              <a:gd name="adj2" fmla="val 8826"/>
            </a:avLst>
          </a:prstGeom>
          <a:solidFill>
            <a:srgbClr val="EDF7EF"/>
          </a:solidFill>
          <a:ln>
            <a:solidFill>
              <a:srgbClr val="2D8F4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564880" y="314960"/>
            <a:ext cx="3345180" cy="6075680"/>
          </a:xfrm>
          <a:prstGeom prst="roundRect">
            <a:avLst>
              <a:gd name="adj" fmla="val 9548"/>
            </a:avLst>
          </a:prstGeom>
          <a:solidFill>
            <a:srgbClr val="7B3FCA"/>
          </a:solidFill>
          <a:ln>
            <a:solidFill>
              <a:srgbClr val="7B3F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同侧圆角矩形 8"/>
          <p:cNvSpPr/>
          <p:nvPr/>
        </p:nvSpPr>
        <p:spPr>
          <a:xfrm>
            <a:off x="8580120" y="938530"/>
            <a:ext cx="3345180" cy="5452110"/>
          </a:xfrm>
          <a:prstGeom prst="round2SameRect">
            <a:avLst>
              <a:gd name="adj1" fmla="val 0"/>
              <a:gd name="adj2" fmla="val 8826"/>
            </a:avLst>
          </a:prstGeom>
          <a:solidFill>
            <a:srgbClr val="F5EEFB"/>
          </a:solidFill>
          <a:ln>
            <a:solidFill>
              <a:srgbClr val="7B3F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15790" y="419735"/>
            <a:ext cx="3360420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核心研究内容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6700" y="419100"/>
            <a:ext cx="3360420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端到端自动迁移技术路线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2" name="流程图: 终止 11"/>
          <p:cNvSpPr/>
          <p:nvPr/>
        </p:nvSpPr>
        <p:spPr>
          <a:xfrm>
            <a:off x="759460" y="-265430"/>
            <a:ext cx="2390140" cy="609600"/>
          </a:xfrm>
          <a:prstGeom prst="flowChartTerminator">
            <a:avLst/>
          </a:prstGeom>
          <a:solidFill>
            <a:srgbClr val="FEF7ED"/>
          </a:solidFill>
          <a:ln>
            <a:solidFill>
              <a:srgbClr val="E47A0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FB9551"/>
                </a:solidFill>
              </a:rPr>
              <a:t>LLM </a:t>
            </a:r>
            <a:r>
              <a:rPr lang="zh-CN" altLang="en-US" b="1">
                <a:solidFill>
                  <a:srgbClr val="FB9551"/>
                </a:solidFill>
              </a:rPr>
              <a:t>驱动流水线</a:t>
            </a:r>
            <a:endParaRPr lang="zh-CN" altLang="en-US" b="1">
              <a:solidFill>
                <a:srgbClr val="FB955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90220" y="1038860"/>
            <a:ext cx="2929255" cy="603885"/>
          </a:xfrm>
          <a:prstGeom prst="roundRect">
            <a:avLst>
              <a:gd name="adj" fmla="val 12349"/>
            </a:avLst>
          </a:prstGeom>
          <a:solidFill>
            <a:srgbClr val="FFFFFF"/>
          </a:solidFill>
          <a:ln>
            <a:solidFill>
              <a:srgbClr val="C9DA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3B7DD8"/>
                </a:solidFill>
              </a:rPr>
              <a:t>输入源</a:t>
            </a:r>
            <a:endParaRPr lang="zh-CN" altLang="en-US" sz="1600" b="1">
              <a:solidFill>
                <a:srgbClr val="3B7DD8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SV-COMP &amp; CASTLE-C250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39445" y="1828165"/>
            <a:ext cx="2630170" cy="481330"/>
          </a:xfrm>
          <a:prstGeom prst="roundRect">
            <a:avLst>
              <a:gd name="adj" fmla="val 12349"/>
            </a:avLst>
          </a:prstGeom>
          <a:solidFill>
            <a:srgbClr val="FFFFFF"/>
          </a:solidFill>
          <a:ln>
            <a:solidFill>
              <a:srgbClr val="C9DA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600" b="1">
                <a:solidFill>
                  <a:srgbClr val="3B7DD8"/>
                </a:solidFill>
              </a:rPr>
              <a:t>①信息提取</a:t>
            </a:r>
            <a:endParaRPr lang="zh-CN" altLang="en-US" sz="1600" b="1">
              <a:solidFill>
                <a:srgbClr val="3B7DD8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0220" y="2494280"/>
            <a:ext cx="2929255" cy="621665"/>
          </a:xfrm>
          <a:prstGeom prst="roundRect">
            <a:avLst>
              <a:gd name="adj" fmla="val 12349"/>
            </a:avLst>
          </a:prstGeom>
          <a:solidFill>
            <a:srgbClr val="D6E6F7"/>
          </a:solidFill>
          <a:ln>
            <a:solidFill>
              <a:srgbClr val="71A1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3B7DD8"/>
                </a:solidFill>
                <a:sym typeface="+mn-ea"/>
              </a:rPr>
              <a:t>②</a:t>
            </a:r>
            <a:r>
              <a:rPr lang="en-US" altLang="zh-CN" sz="1600" b="1">
                <a:solidFill>
                  <a:srgbClr val="3B7DD8"/>
                </a:solidFill>
                <a:sym typeface="+mn-ea"/>
              </a:rPr>
              <a:t>ASCL</a:t>
            </a:r>
            <a:r>
              <a:rPr lang="zh-CN" altLang="en-US" sz="1600" b="1">
                <a:solidFill>
                  <a:srgbClr val="3B7DD8"/>
                </a:solidFill>
                <a:sym typeface="+mn-ea"/>
              </a:rPr>
              <a:t>注释生成</a:t>
            </a:r>
            <a:endParaRPr lang="zh-CN" altLang="en-US" sz="1600" b="1">
              <a:solidFill>
                <a:srgbClr val="3B7DD8"/>
              </a:solidFill>
              <a:sym typeface="+mn-ea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LLM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核心处理阶段）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" name="直接箭头连接符 16"/>
          <p:cNvCxnSpPr>
            <a:stCxn id="13" idx="2"/>
            <a:endCxn id="14" idx="0"/>
          </p:cNvCxnSpPr>
          <p:nvPr/>
        </p:nvCxnSpPr>
        <p:spPr>
          <a:xfrm flipH="1">
            <a:off x="1954530" y="1642745"/>
            <a:ext cx="635" cy="1854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15" idx="0"/>
          </p:cNvCxnSpPr>
          <p:nvPr/>
        </p:nvCxnSpPr>
        <p:spPr>
          <a:xfrm>
            <a:off x="1954530" y="2314575"/>
            <a:ext cx="635" cy="17970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489585" y="3507740"/>
            <a:ext cx="1363980" cy="475615"/>
          </a:xfrm>
          <a:prstGeom prst="roundRect">
            <a:avLst>
              <a:gd name="adj" fmla="val 12349"/>
            </a:avLst>
          </a:prstGeom>
          <a:solidFill>
            <a:srgbClr val="FFFFFF"/>
          </a:solidFill>
          <a:ln>
            <a:solidFill>
              <a:srgbClr val="C9DA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rgbClr val="3B7DD8"/>
                </a:solidFill>
              </a:rPr>
              <a:t>结构化</a:t>
            </a:r>
            <a:endParaRPr lang="zh-CN" altLang="en-US" sz="1400" b="1">
              <a:solidFill>
                <a:srgbClr val="3B7DD8"/>
              </a:solidFill>
            </a:endParaRPr>
          </a:p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rgbClr val="3B7DD8"/>
                </a:solidFill>
              </a:rPr>
              <a:t>中间表示</a:t>
            </a:r>
            <a:endParaRPr lang="zh-CN" altLang="en-US" sz="1400" b="1">
              <a:solidFill>
                <a:srgbClr val="3B7DD8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055495" y="3507740"/>
            <a:ext cx="1363980" cy="476250"/>
          </a:xfrm>
          <a:prstGeom prst="roundRect">
            <a:avLst>
              <a:gd name="adj" fmla="val 12349"/>
            </a:avLst>
          </a:prstGeom>
          <a:solidFill>
            <a:srgbClr val="FFFFFF"/>
          </a:solidFill>
          <a:ln>
            <a:solidFill>
              <a:srgbClr val="C9DA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 sz="1400" b="1">
                <a:solidFill>
                  <a:srgbClr val="3B7DD8"/>
                </a:solidFill>
              </a:rPr>
              <a:t>ACSL</a:t>
            </a:r>
            <a:endParaRPr lang="en-US" altLang="zh-CN" sz="1400" b="1">
              <a:solidFill>
                <a:srgbClr val="3B7DD8"/>
              </a:solidFill>
            </a:endParaRPr>
          </a:p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rgbClr val="3B7DD8"/>
                </a:solidFill>
              </a:rPr>
              <a:t>种子用例</a:t>
            </a:r>
            <a:endParaRPr lang="zh-CN" altLang="en-US" sz="1400" b="1">
              <a:solidFill>
                <a:srgbClr val="3B7DD8"/>
              </a:solidFill>
            </a:endParaRPr>
          </a:p>
        </p:txBody>
      </p:sp>
      <p:cxnSp>
        <p:nvCxnSpPr>
          <p:cNvPr id="23" name="直接连接符 22"/>
          <p:cNvCxnSpPr>
            <a:stCxn id="15" idx="2"/>
          </p:cNvCxnSpPr>
          <p:nvPr/>
        </p:nvCxnSpPr>
        <p:spPr>
          <a:xfrm>
            <a:off x="1955165" y="3115945"/>
            <a:ext cx="635" cy="12255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77925" y="3238500"/>
            <a:ext cx="1565275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1176655" y="3225800"/>
            <a:ext cx="4445" cy="27686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733040" y="3238500"/>
            <a:ext cx="5715" cy="27495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9" idx="2"/>
          </p:cNvCxnSpPr>
          <p:nvPr/>
        </p:nvCxnSpPr>
        <p:spPr>
          <a:xfrm flipH="1">
            <a:off x="1168400" y="3983355"/>
            <a:ext cx="3175" cy="1346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2736850" y="3983355"/>
            <a:ext cx="3175" cy="1219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1167765" y="4103370"/>
            <a:ext cx="1575435" cy="317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1959610" y="4100830"/>
            <a:ext cx="1270" cy="2222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639445" y="4321810"/>
            <a:ext cx="2630170" cy="455930"/>
          </a:xfrm>
          <a:prstGeom prst="roundRect">
            <a:avLst>
              <a:gd name="adj" fmla="val 12349"/>
            </a:avLst>
          </a:prstGeom>
          <a:solidFill>
            <a:srgbClr val="FFFFFF"/>
          </a:solidFill>
          <a:ln>
            <a:solidFill>
              <a:srgbClr val="C9DA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600" b="1">
                <a:solidFill>
                  <a:srgbClr val="3B7DD8"/>
                </a:solidFill>
              </a:rPr>
              <a:t>③蜕变测试</a:t>
            </a:r>
            <a:endParaRPr lang="zh-CN" altLang="en-US" sz="1600" b="1">
              <a:solidFill>
                <a:srgbClr val="3B7DD8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90220" y="4993005"/>
            <a:ext cx="2929255" cy="621665"/>
          </a:xfrm>
          <a:prstGeom prst="roundRect">
            <a:avLst>
              <a:gd name="adj" fmla="val 12349"/>
            </a:avLst>
          </a:prstGeom>
          <a:solidFill>
            <a:srgbClr val="D6E6F7"/>
          </a:solidFill>
          <a:ln>
            <a:solidFill>
              <a:srgbClr val="71A1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600" b="1">
                <a:solidFill>
                  <a:srgbClr val="3B7DD8"/>
                </a:solidFill>
                <a:sym typeface="+mn-ea"/>
              </a:rPr>
              <a:t>④大规模衍生用例生成</a:t>
            </a:r>
            <a:endParaRPr lang="zh-CN" altLang="en-US" sz="1600" b="1">
              <a:solidFill>
                <a:srgbClr val="3B7DD8"/>
              </a:solidFill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（覆盖多样化内存安全场景）</a:t>
            </a:r>
            <a:endParaRPr lang="zh-CN" altLang="en-US" sz="1800" b="1">
              <a:solidFill>
                <a:srgbClr val="3B7DD8"/>
              </a:solidFill>
              <a:sym typeface="+mn-ea"/>
            </a:endParaRPr>
          </a:p>
        </p:txBody>
      </p:sp>
      <p:cxnSp>
        <p:nvCxnSpPr>
          <p:cNvPr id="33" name="直接箭头连接符 32"/>
          <p:cNvCxnSpPr>
            <a:stCxn id="31" idx="2"/>
            <a:endCxn id="32" idx="0"/>
          </p:cNvCxnSpPr>
          <p:nvPr/>
        </p:nvCxnSpPr>
        <p:spPr>
          <a:xfrm>
            <a:off x="1954530" y="4777740"/>
            <a:ext cx="635" cy="21526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流程图: 终止 33"/>
          <p:cNvSpPr/>
          <p:nvPr/>
        </p:nvSpPr>
        <p:spPr>
          <a:xfrm>
            <a:off x="639445" y="5715000"/>
            <a:ext cx="2630170" cy="588010"/>
          </a:xfrm>
          <a:prstGeom prst="flowChartTerminator">
            <a:avLst/>
          </a:prstGeom>
          <a:solidFill>
            <a:srgbClr val="D7E5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3B7DD8"/>
                </a:solidFill>
              </a:rPr>
              <a:t>输出：ACSL注释数据集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631690" y="1038860"/>
            <a:ext cx="2929255" cy="603885"/>
          </a:xfrm>
          <a:prstGeom prst="roundRect">
            <a:avLst>
              <a:gd name="adj" fmla="val 12349"/>
            </a:avLst>
          </a:prstGeom>
          <a:solidFill>
            <a:srgbClr val="FFFFFF"/>
          </a:solidFill>
          <a:ln>
            <a:solidFill>
              <a:srgbClr val="2D8F4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rgbClr val="2D8F4E"/>
                </a:solidFill>
              </a:rPr>
              <a:t>ACSL </a:t>
            </a:r>
            <a:r>
              <a:rPr lang="zh-CN" altLang="en-US" sz="1600" b="1">
                <a:solidFill>
                  <a:srgbClr val="2D8F4E"/>
                </a:solidFill>
              </a:rPr>
              <a:t>内存安全性质数据集</a:t>
            </a:r>
            <a:endParaRPr lang="zh-CN" altLang="en-US" sz="1600" b="1">
              <a:solidFill>
                <a:srgbClr val="3B7DD8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Memory Safety Property Dataset</a:t>
            </a:r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4664075" y="1802130"/>
            <a:ext cx="2870200" cy="0"/>
          </a:xfrm>
          <a:prstGeom prst="line">
            <a:avLst/>
          </a:prstGeom>
          <a:ln w="31750" cmpd="sng">
            <a:solidFill>
              <a:srgbClr val="D4EDDA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/>
        </p:nvSpPr>
        <p:spPr>
          <a:xfrm>
            <a:off x="4631055" y="2246630"/>
            <a:ext cx="2929255" cy="352425"/>
          </a:xfrm>
          <a:prstGeom prst="roundRect">
            <a:avLst>
              <a:gd name="adj" fmla="val 12349"/>
            </a:avLst>
          </a:prstGeom>
          <a:solidFill>
            <a:srgbClr val="D4EDDA"/>
          </a:solidFill>
          <a:ln>
            <a:solidFill>
              <a:srgbClr val="92D2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l"/>
            </a:pPr>
            <a:r>
              <a:rPr lang="en-US" altLang="zh-CN" sz="1400">
                <a:solidFill>
                  <a:srgbClr val="2D8F4E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vaild-deref   </a:t>
            </a:r>
            <a:r>
              <a:rPr lang="zh-CN" altLang="en-US" sz="1400" b="1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有效解引用</a:t>
            </a:r>
            <a:endParaRPr lang="zh-CN" altLang="en-US" sz="1400" b="1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4631055" y="2667635"/>
            <a:ext cx="2929255" cy="339090"/>
          </a:xfrm>
          <a:prstGeom prst="roundRect">
            <a:avLst>
              <a:gd name="adj" fmla="val 12349"/>
            </a:avLst>
          </a:prstGeom>
          <a:solidFill>
            <a:srgbClr val="D4EDDA"/>
          </a:solidFill>
          <a:ln>
            <a:solidFill>
              <a:srgbClr val="92D2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l"/>
            </a:pPr>
            <a:r>
              <a:rPr lang="en-US" altLang="zh-CN" sz="1400">
                <a:solidFill>
                  <a:srgbClr val="2D8F4E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vaild-free      </a:t>
            </a:r>
            <a:r>
              <a:rPr lang="zh-CN" altLang="en-US" sz="1400" b="1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有效释放</a:t>
            </a:r>
            <a:endParaRPr lang="zh-CN" altLang="en-US" sz="1400" b="1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4631055" y="3075305"/>
            <a:ext cx="2929255" cy="321945"/>
          </a:xfrm>
          <a:prstGeom prst="roundRect">
            <a:avLst>
              <a:gd name="adj" fmla="val 12349"/>
            </a:avLst>
          </a:prstGeom>
          <a:solidFill>
            <a:srgbClr val="D4EDDA"/>
          </a:solidFill>
          <a:ln>
            <a:solidFill>
              <a:srgbClr val="92D2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l"/>
            </a:pPr>
            <a:r>
              <a:rPr lang="en-US" altLang="zh-CN" sz="1400">
                <a:solidFill>
                  <a:srgbClr val="2D8F4E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vaild-memtrack  </a:t>
            </a:r>
            <a:r>
              <a:rPr lang="zh-CN" altLang="en-US" sz="1400" b="1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  <a:sym typeface="+mn-ea"/>
              </a:rPr>
              <a:t>内存追踪</a:t>
            </a:r>
            <a:endParaRPr lang="zh-CN" altLang="en-US" sz="1400" b="1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537075" y="1871345"/>
            <a:ext cx="2335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核心内存安全性质：</a:t>
            </a:r>
            <a:endParaRPr lang="zh-CN" altLang="en-US" sz="1400" b="1"/>
          </a:p>
        </p:txBody>
      </p:sp>
      <p:sp>
        <p:nvSpPr>
          <p:cNvPr id="42" name="圆角矩形 41"/>
          <p:cNvSpPr/>
          <p:nvPr/>
        </p:nvSpPr>
        <p:spPr>
          <a:xfrm>
            <a:off x="4631690" y="3604260"/>
            <a:ext cx="2929255" cy="807085"/>
          </a:xfrm>
          <a:prstGeom prst="roundRect">
            <a:avLst>
              <a:gd name="adj" fmla="val 12349"/>
            </a:avLst>
          </a:prstGeom>
          <a:solidFill>
            <a:srgbClr val="FFFFFF"/>
          </a:solidFill>
          <a:ln>
            <a:solidFill>
              <a:srgbClr val="2D8F4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与RTE/LLM 直接生成对比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RTE插件生成|DeepSeek直接生成</a:t>
            </a:r>
            <a:endParaRPr lang="zh-CN" altLang="en-US" sz="120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→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本项目方法在覆盖度与正确性上更优</a:t>
            </a:r>
            <a:endParaRPr lang="zh-CN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4631055" y="3496310"/>
            <a:ext cx="2870200" cy="0"/>
          </a:xfrm>
          <a:prstGeom prst="line">
            <a:avLst/>
          </a:prstGeom>
          <a:ln w="31750" cmpd="sng">
            <a:solidFill>
              <a:srgbClr val="D4EDDA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4660900" y="4519295"/>
            <a:ext cx="2870200" cy="0"/>
          </a:xfrm>
          <a:prstGeom prst="line">
            <a:avLst/>
          </a:prstGeom>
          <a:ln w="31750" cmpd="sng">
            <a:solidFill>
              <a:srgbClr val="D4EDDA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圆角矩形 44"/>
          <p:cNvSpPr/>
          <p:nvPr/>
        </p:nvSpPr>
        <p:spPr>
          <a:xfrm>
            <a:off x="4631055" y="4670425"/>
            <a:ext cx="2929255" cy="937260"/>
          </a:xfrm>
          <a:prstGeom prst="roundRect">
            <a:avLst>
              <a:gd name="adj" fmla="val 12349"/>
            </a:avLst>
          </a:prstGeom>
          <a:solidFill>
            <a:srgbClr val="D4EDDA"/>
          </a:solidFill>
          <a:ln>
            <a:solidFill>
              <a:srgbClr val="92D2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>
              <a:buFont typeface="Wingdings" panose="05000000000000000000" charset="0"/>
              <a:buNone/>
            </a:pPr>
            <a:r>
              <a:rPr lang="zh-CN" altLang="en-US" sz="1600" b="1">
                <a:solidFill>
                  <a:srgbClr val="2D8F4E"/>
                </a:solidFill>
                <a:sym typeface="+mn-ea"/>
              </a:rPr>
              <a:t>✅️WP插件逐一验证通过</a:t>
            </a:r>
            <a:endParaRPr lang="zh-CN" altLang="en-US" sz="1600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所有生成的性质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zh-CN" sz="1400">
                <a:solidFill>
                  <a:schemeClr val="tx1"/>
                </a:solidFill>
                <a:sym typeface="+mn-ea"/>
              </a:rPr>
              <a:t>经Frama-C/WP验证确认</a:t>
            </a:r>
            <a:endParaRPr lang="zh-CN" altLang="en-US" sz="1600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46" name="流程图: 终止 45"/>
          <p:cNvSpPr/>
          <p:nvPr/>
        </p:nvSpPr>
        <p:spPr>
          <a:xfrm>
            <a:off x="5008880" y="5715000"/>
            <a:ext cx="2113915" cy="588010"/>
          </a:xfrm>
          <a:prstGeom prst="flowChartTerminator">
            <a:avLst/>
          </a:prstGeom>
          <a:solidFill>
            <a:srgbClr val="DAEC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2D8F4E"/>
                </a:solidFill>
              </a:rPr>
              <a:t>本研究的核心产出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48" name="直接箭头连接符 47"/>
          <p:cNvCxnSpPr>
            <a:stCxn id="5" idx="0"/>
            <a:endCxn id="7" idx="2"/>
          </p:cNvCxnSpPr>
          <p:nvPr/>
        </p:nvCxnSpPr>
        <p:spPr>
          <a:xfrm flipV="1">
            <a:off x="3627120" y="3663950"/>
            <a:ext cx="796290" cy="6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3719195" y="3295650"/>
            <a:ext cx="69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产出</a:t>
            </a:r>
            <a:endParaRPr lang="zh-CN" altLang="en-US" b="1"/>
          </a:p>
        </p:txBody>
      </p:sp>
      <p:cxnSp>
        <p:nvCxnSpPr>
          <p:cNvPr id="50" name="直接箭头连接符 49"/>
          <p:cNvCxnSpPr/>
          <p:nvPr/>
        </p:nvCxnSpPr>
        <p:spPr>
          <a:xfrm flipV="1">
            <a:off x="7776845" y="3663950"/>
            <a:ext cx="796290" cy="6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7868920" y="3295650"/>
            <a:ext cx="69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评估</a:t>
            </a:r>
            <a:endParaRPr lang="zh-CN" altLang="en-US" b="1"/>
          </a:p>
        </p:txBody>
      </p:sp>
      <p:sp>
        <p:nvSpPr>
          <p:cNvPr id="54" name="文本框 53"/>
          <p:cNvSpPr txBox="1"/>
          <p:nvPr/>
        </p:nvSpPr>
        <p:spPr>
          <a:xfrm>
            <a:off x="8564880" y="419735"/>
            <a:ext cx="3360420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ACSL </a:t>
            </a:r>
            <a:r>
              <a:rPr lang="zh-CN" altLang="en-US" b="1">
                <a:solidFill>
                  <a:schemeClr val="bg1"/>
                </a:solidFill>
              </a:rPr>
              <a:t>规约质量三维度评估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8772525" y="1038860"/>
            <a:ext cx="2929255" cy="1358265"/>
          </a:xfrm>
          <a:prstGeom prst="roundRect">
            <a:avLst>
              <a:gd name="adj" fmla="val 5936"/>
            </a:avLst>
          </a:prstGeom>
          <a:solidFill>
            <a:srgbClr val="DAC9F0"/>
          </a:solidFill>
          <a:ln>
            <a:solidFill>
              <a:srgbClr val="C8AF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6" name="同侧圆角矩形 55"/>
          <p:cNvSpPr/>
          <p:nvPr/>
        </p:nvSpPr>
        <p:spPr>
          <a:xfrm>
            <a:off x="8772525" y="1403350"/>
            <a:ext cx="2928620" cy="993775"/>
          </a:xfrm>
          <a:prstGeom prst="round2SameRect">
            <a:avLst>
              <a:gd name="adj1" fmla="val 0"/>
              <a:gd name="adj2" fmla="val 8358"/>
            </a:avLst>
          </a:prstGeom>
          <a:solidFill>
            <a:srgbClr val="FFFFFF"/>
          </a:solidFill>
          <a:ln>
            <a:solidFill>
              <a:srgbClr val="C3A7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8770620" y="2529205"/>
            <a:ext cx="2929255" cy="1454785"/>
          </a:xfrm>
          <a:prstGeom prst="roundRect">
            <a:avLst>
              <a:gd name="adj" fmla="val 5936"/>
            </a:avLst>
          </a:prstGeom>
          <a:solidFill>
            <a:srgbClr val="DAC9F0"/>
          </a:solidFill>
          <a:ln>
            <a:solidFill>
              <a:srgbClr val="C8AF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8" name="同侧圆角矩形 57"/>
          <p:cNvSpPr/>
          <p:nvPr/>
        </p:nvSpPr>
        <p:spPr>
          <a:xfrm>
            <a:off x="8770620" y="2893695"/>
            <a:ext cx="2928620" cy="1198245"/>
          </a:xfrm>
          <a:prstGeom prst="round2SameRect">
            <a:avLst>
              <a:gd name="adj1" fmla="val 0"/>
              <a:gd name="adj2" fmla="val 8358"/>
            </a:avLst>
          </a:prstGeom>
          <a:solidFill>
            <a:srgbClr val="FFFFFF"/>
          </a:solidFill>
          <a:ln>
            <a:solidFill>
              <a:srgbClr val="C3A7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8772525" y="1062990"/>
            <a:ext cx="2928620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7B3FCA"/>
                </a:solidFill>
              </a:rPr>
              <a:t>维度一:性质覆盖度对比评估</a:t>
            </a:r>
            <a:endParaRPr lang="zh-CN" altLang="en-US" sz="1400" b="1">
              <a:solidFill>
                <a:srgbClr val="7B3FCA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773160" y="1403350"/>
            <a:ext cx="2933700" cy="911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zh-CN" altLang="en-US" sz="1400" b="1">
                <a:cs typeface="+mn-lt"/>
              </a:rPr>
              <a:t>对比对象:</a:t>
            </a:r>
            <a:endParaRPr lang="zh-CN" altLang="en-US" sz="1400" b="1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本项目ACSL数据集</a:t>
            </a:r>
            <a:endParaRPr lang="zh-CN" altLang="en-US" sz="1400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RTE插件自动生成</a:t>
            </a:r>
            <a:endParaRPr lang="zh-CN" altLang="en-US" sz="1400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DeepSeek直接生成</a:t>
            </a:r>
            <a:endParaRPr lang="zh-CN" altLang="en-US" sz="1400">
              <a:cs typeface="+mn-lt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8776970" y="4245610"/>
            <a:ext cx="2929255" cy="1304925"/>
          </a:xfrm>
          <a:prstGeom prst="roundRect">
            <a:avLst>
              <a:gd name="adj" fmla="val 5936"/>
            </a:avLst>
          </a:prstGeom>
          <a:solidFill>
            <a:srgbClr val="DAC9F0"/>
          </a:solidFill>
          <a:ln>
            <a:solidFill>
              <a:srgbClr val="C8AF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2" name="同侧圆角矩形 61"/>
          <p:cNvSpPr/>
          <p:nvPr/>
        </p:nvSpPr>
        <p:spPr>
          <a:xfrm>
            <a:off x="8776970" y="4610100"/>
            <a:ext cx="2928620" cy="1004570"/>
          </a:xfrm>
          <a:prstGeom prst="round2SameRect">
            <a:avLst>
              <a:gd name="adj1" fmla="val 0"/>
              <a:gd name="adj2" fmla="val 8358"/>
            </a:avLst>
          </a:prstGeom>
          <a:solidFill>
            <a:srgbClr val="FFFFFF"/>
          </a:solidFill>
          <a:ln>
            <a:solidFill>
              <a:srgbClr val="C3A7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8777605" y="2550795"/>
            <a:ext cx="292862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7B3FCA"/>
                </a:solidFill>
              </a:rPr>
              <a:t>维度二:求解器状态演化难度评估</a:t>
            </a:r>
            <a:endParaRPr lang="zh-CN" altLang="en-US" sz="1400" b="1">
              <a:solidFill>
                <a:srgbClr val="7B3FCA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777605" y="2893695"/>
            <a:ext cx="2933700" cy="911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zh-CN" altLang="en-US" sz="1400" b="1">
                <a:cs typeface="+mn-lt"/>
              </a:rPr>
              <a:t>评估方法:</a:t>
            </a:r>
            <a:endParaRPr lang="zh-CN" altLang="en-US" sz="1400" b="1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引入变异操作扰动规约</a:t>
            </a:r>
            <a:endParaRPr lang="zh-CN" altLang="en-US" sz="1400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观测</a:t>
            </a:r>
            <a:r>
              <a:rPr lang="en-US" altLang="zh-CN" sz="1400">
                <a:cs typeface="+mn-lt"/>
              </a:rPr>
              <a:t>WP</a:t>
            </a:r>
            <a:r>
              <a:rPr lang="zh-CN" altLang="en-US" sz="1400">
                <a:cs typeface="+mn-lt"/>
              </a:rPr>
              <a:t>证明状态变化</a:t>
            </a:r>
            <a:endParaRPr lang="zh-CN" altLang="en-US" sz="1400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cs typeface="+mn-lt"/>
              </a:rPr>
              <a:t>ProvedUnknown</a:t>
            </a:r>
            <a:r>
              <a:rPr lang="zh-CN" altLang="en-US" sz="1400">
                <a:cs typeface="+mn-lt"/>
              </a:rPr>
              <a:t>转化率</a:t>
            </a:r>
            <a:endParaRPr lang="zh-CN" altLang="en-US" sz="1400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衡量规约鲁棒性与充分性</a:t>
            </a:r>
            <a:endParaRPr lang="zh-CN" altLang="en-US" sz="1400">
              <a:cs typeface="+mn-lt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771255" y="4267835"/>
            <a:ext cx="292862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7B3FCA"/>
                </a:solidFill>
              </a:rPr>
              <a:t>维度三:多求解器兼容性评估</a:t>
            </a:r>
            <a:endParaRPr lang="zh-CN" altLang="en-US" sz="1400" b="1">
              <a:solidFill>
                <a:srgbClr val="7B3FCA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771890" y="4610100"/>
            <a:ext cx="2933700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zh-CN" altLang="en-US" sz="1400" b="1">
                <a:cs typeface="+mn-lt"/>
              </a:rPr>
              <a:t>测试求解器：</a:t>
            </a:r>
            <a:r>
              <a:rPr lang="zh-CN" altLang="en-US" sz="1400" b="1">
                <a:solidFill>
                  <a:srgbClr val="7B3FCA"/>
                </a:solidFill>
              </a:rPr>
              <a:t>Alt-Ergo</a:t>
            </a:r>
            <a:r>
              <a:rPr lang="en-US" altLang="zh-CN" sz="1400" b="1">
                <a:solidFill>
                  <a:srgbClr val="7B3FCA"/>
                </a:solidFill>
              </a:rPr>
              <a:t> </a:t>
            </a:r>
            <a:r>
              <a:rPr lang="zh-CN" altLang="en-US" sz="1400" b="1">
                <a:solidFill>
                  <a:srgbClr val="7B3FCA"/>
                </a:solidFill>
              </a:rPr>
              <a:t> CVC4 </a:t>
            </a:r>
            <a:r>
              <a:rPr lang="en-US" altLang="zh-CN" sz="1400" b="1">
                <a:solidFill>
                  <a:srgbClr val="7B3FCA"/>
                </a:solidFill>
              </a:rPr>
              <a:t> </a:t>
            </a:r>
            <a:r>
              <a:rPr lang="zh-CN" altLang="en-US" sz="1400" b="1">
                <a:solidFill>
                  <a:srgbClr val="7B3FCA"/>
                </a:solidFill>
              </a:rPr>
              <a:t>Z3</a:t>
            </a:r>
            <a:endParaRPr lang="zh-CN" altLang="en-US" sz="1400" b="1">
              <a:solidFill>
                <a:srgbClr val="7B3FCA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跨求解器证明一致性检验</a:t>
            </a:r>
            <a:endParaRPr lang="zh-CN" altLang="en-US" sz="1400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识别求解器相关偏差</a:t>
            </a:r>
            <a:endParaRPr lang="zh-CN" altLang="en-US" sz="1400">
              <a:cs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cs typeface="+mn-lt"/>
              </a:rPr>
              <a:t>确保规约的通用兼容性</a:t>
            </a:r>
            <a:endParaRPr lang="zh-CN" altLang="en-US" sz="1400">
              <a:cs typeface="+mn-lt"/>
            </a:endParaRPr>
          </a:p>
        </p:txBody>
      </p:sp>
      <p:sp>
        <p:nvSpPr>
          <p:cNvPr id="67" name="流程图: 终止 66"/>
          <p:cNvSpPr/>
          <p:nvPr/>
        </p:nvSpPr>
        <p:spPr>
          <a:xfrm>
            <a:off x="8951595" y="5715000"/>
            <a:ext cx="2608580" cy="588010"/>
          </a:xfrm>
          <a:prstGeom prst="flowChartTerminator">
            <a:avLst/>
          </a:prstGeom>
          <a:solidFill>
            <a:srgbClr val="E8D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rgbClr val="7B3FCA"/>
                </a:solidFill>
              </a:rPr>
              <a:t>三维度综合→全面质量画像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356360" y="6432550"/>
            <a:ext cx="1181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方法构建</a:t>
            </a:r>
            <a:endParaRPr lang="zh-CN" altLang="en-US" b="1"/>
          </a:p>
        </p:txBody>
      </p:sp>
      <p:sp>
        <p:nvSpPr>
          <p:cNvPr id="72" name="文本框 71"/>
          <p:cNvSpPr txBox="1"/>
          <p:nvPr/>
        </p:nvSpPr>
        <p:spPr>
          <a:xfrm>
            <a:off x="5106670" y="6432550"/>
            <a:ext cx="1917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核心数据集产出</a:t>
            </a:r>
            <a:endParaRPr lang="zh-CN" altLang="en-US" b="1"/>
          </a:p>
        </p:txBody>
      </p:sp>
      <p:sp>
        <p:nvSpPr>
          <p:cNvPr id="73" name="文本框 72"/>
          <p:cNvSpPr txBox="1"/>
          <p:nvPr/>
        </p:nvSpPr>
        <p:spPr>
          <a:xfrm>
            <a:off x="9644380" y="6432550"/>
            <a:ext cx="1181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质量验证</a:t>
            </a:r>
            <a:endParaRPr lang="zh-CN" altLang="en-US" b="1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WPS 演示</Application>
  <PresentationFormat>宽屏</PresentationFormat>
  <Paragraphs>84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Cascadia Code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うちはサスケ</cp:lastModifiedBy>
  <cp:revision>157</cp:revision>
  <dcterms:created xsi:type="dcterms:W3CDTF">2019-06-19T02:08:00Z</dcterms:created>
  <dcterms:modified xsi:type="dcterms:W3CDTF">2026-05-15T04:51:08Z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AA00A01D8CD34C8DA2C03305421221E6_11</vt:lpwstr>
  </property>
</Properties>
</file>